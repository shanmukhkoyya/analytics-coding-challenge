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868D6"/>
                </a:solidFill>
                <a:latin typeface="Aptos"/>
              </a:rPr>
              <a:t>BANKING SECTOR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262626"/>
                </a:solidFill>
                <a:latin typeface="Aptos"/>
              </a:rPr>
              <a:t>Executive Performance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96969"/>
                </a:solidFill>
                <a:latin typeface="Aptos"/>
              </a:rPr>
              <a:t>Customer, transaction and balance indicators from the Power BI dashboard.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41148" cy="914400"/>
          </a:xfrm>
          <a:prstGeom prst="rect">
            <a:avLst/>
          </a:prstGeom>
          <a:solidFill>
            <a:srgbClr val="1868D6"/>
          </a:solidFill>
          <a:ln>
            <a:solidFill>
              <a:srgbClr val="18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536192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96969"/>
                </a:solidFill>
                <a:latin typeface="Aptos"/>
              </a:rPr>
              <a:t>TOTAL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81051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262626"/>
                </a:solidFill>
                <a:latin typeface="Aptos"/>
              </a:rPr>
              <a:t>92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417320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417320"/>
            <a:ext cx="41148" cy="914400"/>
          </a:xfrm>
          <a:prstGeom prst="rect">
            <a:avLst/>
          </a:prstGeom>
          <a:solidFill>
            <a:srgbClr val="128B71"/>
          </a:solidFill>
          <a:ln>
            <a:solidFill>
              <a:srgbClr val="128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1536192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96969"/>
                </a:solidFill>
                <a:latin typeface="Aptos"/>
              </a:rPr>
              <a:t>TOTAL DEPOSITS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181051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262626"/>
                </a:solidFill>
                <a:latin typeface="Aptos"/>
              </a:rPr>
              <a:t>1.16M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417320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417320"/>
            <a:ext cx="41148" cy="91440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7336" y="1536192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96969"/>
                </a:solidFill>
                <a:latin typeface="Aptos"/>
              </a:rPr>
              <a:t>TOTAL WITHDRAWALS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181051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262626"/>
                </a:solidFill>
                <a:latin typeface="Aptos"/>
              </a:rPr>
              <a:t>1.28M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417320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32520" y="1417320"/>
            <a:ext cx="41148" cy="914400"/>
          </a:xfrm>
          <a:prstGeom prst="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1536192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96969"/>
                </a:solidFill>
                <a:latin typeface="Aptos"/>
              </a:rPr>
              <a:t>NET BALANCE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181051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262626"/>
                </a:solidFill>
                <a:latin typeface="Aptos"/>
              </a:rPr>
              <a:t>-120.88K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578608"/>
            <a:ext cx="681228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81635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868D6"/>
                </a:solidFill>
                <a:latin typeface="Aptos"/>
              </a:rPr>
              <a:t>TRANSACTION MOVEMENT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15468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262626"/>
                </a:solidFill>
                <a:latin typeface="Aptos"/>
              </a:rPr>
              <a:t>Withdrawals are ahead of deposits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7673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96969"/>
                </a:solidFill>
                <a:latin typeface="Aptos"/>
              </a:rPr>
              <a:t>Deposits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3776472"/>
            <a:ext cx="3429000" cy="256032"/>
          </a:xfrm>
          <a:prstGeom prst="rect">
            <a:avLst/>
          </a:prstGeom>
          <a:solidFill>
            <a:srgbClr val="128B71"/>
          </a:solidFill>
          <a:ln>
            <a:solidFill>
              <a:srgbClr val="128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0368" y="37307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62626"/>
                </a:solidFill>
                <a:latin typeface="Aptos"/>
              </a:rPr>
              <a:t>1,161,614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31596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96969"/>
                </a:solidFill>
                <a:latin typeface="Aptos"/>
              </a:rPr>
              <a:t>Withdrawals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4325112"/>
            <a:ext cx="3794760" cy="256032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6128" y="427939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62626"/>
                </a:solidFill>
                <a:latin typeface="Aptos"/>
              </a:rPr>
              <a:t>1,282,490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95604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96969"/>
                </a:solidFill>
                <a:latin typeface="Aptos"/>
              </a:rPr>
              <a:t>Net movement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882896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D62728"/>
                </a:solidFill>
                <a:latin typeface="Aptos"/>
              </a:rPr>
              <a:t>−120,876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493776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96969"/>
                </a:solidFill>
                <a:latin typeface="Aptos"/>
              </a:rPr>
              <a:t>Negative overall movement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2578608"/>
            <a:ext cx="4142232" cy="33375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5552" y="281635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8CBEFF"/>
                </a:solidFill>
                <a:latin typeface="Aptos"/>
              </a:rPr>
              <a:t>MANAGEMENT READOUT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321868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Monitor cash outflow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3767328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EBEBEB"/>
                </a:solidFill>
                <a:latin typeface="Aptos"/>
              </a:rPr>
              <a:t>Withdrawals exceed deposits by 120,876. Review customer-level activity to identify the largest contributors.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523036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B4B4B4"/>
                </a:solidFill>
                <a:latin typeface="Aptos"/>
              </a:rPr>
              <a:t>Dashboard basis: 250 transaction records.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868D6"/>
                </a:solidFill>
                <a:latin typeface="Aptos"/>
              </a:rPr>
              <a:t>LOAN &amp; CUSTOMER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262626"/>
                </a:solidFill>
                <a:latin typeface="Aptos"/>
              </a:rPr>
              <a:t>Loan Risk and Customer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96969"/>
                </a:solidFill>
                <a:latin typeface="Aptos"/>
              </a:rPr>
              <a:t>Risk indicators and the Top Customer view from the dashboard.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41148" cy="914400"/>
          </a:xfrm>
          <a:prstGeom prst="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536192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96969"/>
                </a:solidFill>
                <a:latin typeface="Aptos"/>
              </a:rPr>
              <a:t>LOAN DEFAULT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81051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262626"/>
                </a:solidFill>
                <a:latin typeface="Aptos"/>
              </a:rPr>
              <a:t>37.14%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417320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417320"/>
            <a:ext cx="41148" cy="914400"/>
          </a:xfrm>
          <a:prstGeom prst="rect">
            <a:avLst/>
          </a:prstGeom>
          <a:solidFill>
            <a:srgbClr val="1868D6"/>
          </a:solidFill>
          <a:ln>
            <a:solidFill>
              <a:srgbClr val="18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1536192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96969"/>
                </a:solidFill>
                <a:latin typeface="Aptos"/>
              </a:rPr>
              <a:t>INTEREST RATE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181051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262626"/>
                </a:solidFill>
                <a:latin typeface="Aptos"/>
              </a:rPr>
              <a:t>658.08K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417320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417320"/>
            <a:ext cx="41148" cy="914400"/>
          </a:xfrm>
          <a:prstGeom prst="rect">
            <a:avLst/>
          </a:prstGeom>
          <a:solidFill>
            <a:srgbClr val="1868D6"/>
          </a:solidFill>
          <a:ln>
            <a:solidFill>
              <a:srgbClr val="18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7336" y="1536192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96969"/>
                </a:solidFill>
                <a:latin typeface="Aptos"/>
              </a:rPr>
              <a:t>LOAN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181051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262626"/>
                </a:solidFill>
                <a:latin typeface="Aptos"/>
              </a:rPr>
              <a:t>70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417320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32520" y="1417320"/>
            <a:ext cx="41148" cy="914400"/>
          </a:xfrm>
          <a:prstGeom prst="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1536192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96969"/>
                </a:solidFill>
                <a:latin typeface="Aptos"/>
              </a:rPr>
              <a:t>DEFAULT LOANS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181051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262626"/>
                </a:solidFill>
                <a:latin typeface="Aptos"/>
              </a:rPr>
              <a:t>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578608"/>
            <a:ext cx="370332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281635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868D6"/>
                </a:solidFill>
                <a:latin typeface="Aptos"/>
              </a:rPr>
              <a:t>LOAN STATUS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18211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D62728"/>
                </a:solidFill>
                <a:latin typeface="Aptos"/>
              </a:rPr>
              <a:t>37.14%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7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96969"/>
                </a:solidFill>
                <a:latin typeface="Aptos"/>
              </a:rPr>
              <a:t>default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33087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96969"/>
                </a:solidFill>
                <a:latin typeface="Aptos"/>
              </a:rPr>
              <a:t>Active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4151375"/>
            <a:ext cx="1828800" cy="201168"/>
          </a:xfrm>
          <a:prstGeom prst="rect">
            <a:avLst/>
          </a:prstGeom>
          <a:solidFill>
            <a:srgbClr val="1868D6"/>
          </a:solidFill>
          <a:ln>
            <a:solidFill>
              <a:srgbClr val="18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412394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62626"/>
                </a:solidFill>
                <a:latin typeface="Aptos"/>
              </a:rPr>
              <a:t>180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1772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96969"/>
                </a:solidFill>
                <a:latin typeface="Aptos"/>
              </a:rPr>
              <a:t>Default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4636007"/>
            <a:ext cx="566928" cy="201168"/>
          </a:xfrm>
          <a:prstGeom prst="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460857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62626"/>
                </a:solidFill>
                <a:latin typeface="Aptos"/>
              </a:rPr>
              <a:t>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10235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96969"/>
                </a:solidFill>
                <a:latin typeface="Aptos"/>
              </a:rPr>
              <a:t>Closed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08760" y="5120640"/>
            <a:ext cx="228600" cy="201168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509320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62626"/>
                </a:solidFill>
                <a:latin typeface="Aptos"/>
              </a:rP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7408" y="2578608"/>
            <a:ext cx="7278624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281635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28B71"/>
                </a:solidFill>
                <a:latin typeface="Aptos"/>
              </a:rPr>
              <a:t>TOP CUSTOMER ACTIVITY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3163824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262626"/>
                </a:solidFill>
                <a:latin typeface="Aptos"/>
              </a:rPr>
              <a:t>Customer ranking highlights transaction concentration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2" y="3730752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96969"/>
                </a:solidFill>
                <a:latin typeface="Aptos"/>
              </a:rPr>
              <a:t>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7307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96969"/>
                </a:solidFill>
                <a:latin typeface="Aptos"/>
              </a:rPr>
              <a:t>Avg Balance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73075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96969"/>
                </a:solidFill>
                <a:latin typeface="Aptos"/>
              </a:rPr>
              <a:t>Txn Count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7307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696969"/>
                </a:solidFill>
                <a:latin typeface="Aptos"/>
              </a:rPr>
              <a:t>Rank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52" y="4096512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262626"/>
                </a:solidFill>
                <a:latin typeface="Aptos"/>
              </a:rPr>
              <a:t>Matthew Howe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09651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262626"/>
                </a:solidFill>
                <a:latin typeface="Aptos"/>
              </a:rPr>
              <a:t>54,105.58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409651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262626"/>
                </a:solidFill>
                <a:latin typeface="Aptos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409651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62626"/>
                </a:solidFill>
                <a:latin typeface="Aptos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5152" y="448056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262626"/>
                </a:solidFill>
                <a:latin typeface="Aptos"/>
              </a:rPr>
              <a:t>John Martinez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448056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262626"/>
                </a:solidFill>
                <a:latin typeface="Aptos"/>
              </a:rPr>
              <a:t>21,484.37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44805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262626"/>
                </a:solidFill>
                <a:latin typeface="Aptos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448056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62626"/>
                </a:solidFill>
                <a:latin typeface="Aptos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5152" y="4864608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262626"/>
                </a:solidFill>
                <a:latin typeface="Aptos"/>
              </a:rPr>
              <a:t>Willie Elliott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86460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262626"/>
                </a:solidFill>
                <a:latin typeface="Aptos"/>
              </a:rPr>
              <a:t>55,785.74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486460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262626"/>
                </a:solidFill>
                <a:latin typeface="Aptos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800" y="486460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62626"/>
                </a:solidFill>
                <a:latin typeface="Aptos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45152" y="5248656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262626"/>
                </a:solidFill>
                <a:latin typeface="Aptos"/>
              </a:rPr>
              <a:t>Shannon Olson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248656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262626"/>
                </a:solidFill>
                <a:latin typeface="Aptos"/>
              </a:rPr>
              <a:t>68,515.79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524865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262626"/>
                </a:solidFill>
                <a:latin typeface="Aptos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29800" y="524865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262626"/>
                </a:solidFill>
                <a:latin typeface="Aptos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45152" y="5559552"/>
            <a:ext cx="6217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96969"/>
                </a:solidFill>
                <a:latin typeface="Aptos"/>
              </a:rPr>
              <a:t>Interest-rate scenario is illustrative, not observed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868D6"/>
                </a:solidFill>
                <a:latin typeface="Aptos"/>
              </a:rPr>
              <a:t>CUSTOMER TRANSACTION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262626"/>
                </a:solidFill>
                <a:latin typeface="Aptos"/>
              </a:rPr>
              <a:t>Operational Insights &amp; Data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96969"/>
                </a:solidFill>
                <a:latin typeface="Aptos"/>
              </a:rPr>
              <a:t>Customer-level drill-through supports detailed transaction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41148" cy="914400"/>
          </a:xfrm>
          <a:prstGeom prst="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536192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96969"/>
                </a:solidFill>
                <a:latin typeface="Aptos"/>
              </a:rPr>
              <a:t>LOW-BALANCE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81051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262626"/>
                </a:solidFill>
                <a:latin typeface="Aptos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417320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417320"/>
            <a:ext cx="41148" cy="914400"/>
          </a:xfrm>
          <a:prstGeom prst="rect">
            <a:avLst/>
          </a:prstGeom>
          <a:solidFill>
            <a:srgbClr val="1868D6"/>
          </a:solidFill>
          <a:ln>
            <a:solidFill>
              <a:srgbClr val="18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1536192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96969"/>
                </a:solidFill>
                <a:latin typeface="Aptos"/>
              </a:rPr>
              <a:t>UNIQUE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181051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262626"/>
                </a:solidFill>
                <a:latin typeface="Aptos"/>
              </a:rPr>
              <a:t>92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417320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417320"/>
            <a:ext cx="41148" cy="914400"/>
          </a:xfrm>
          <a:prstGeom prst="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7336" y="1536192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96969"/>
                </a:solidFill>
                <a:latin typeface="Aptos"/>
              </a:rPr>
              <a:t>NET TRANSACTION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181051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262626"/>
                </a:solidFill>
                <a:latin typeface="Aptos"/>
              </a:rPr>
              <a:t>-120.88K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417320"/>
            <a:ext cx="2468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32520" y="1417320"/>
            <a:ext cx="41148" cy="914400"/>
          </a:xfrm>
          <a:prstGeom prst="rect">
            <a:avLst/>
          </a:prstGeom>
          <a:solidFill>
            <a:srgbClr val="128B71"/>
          </a:solidFill>
          <a:ln>
            <a:solidFill>
              <a:srgbClr val="128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0536" y="1536192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96969"/>
                </a:solidFill>
                <a:latin typeface="Aptos"/>
              </a:rPr>
              <a:t>AVG ACCOUNT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181051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1">
                <a:solidFill>
                  <a:srgbClr val="262626"/>
                </a:solidFill>
                <a:latin typeface="Aptos"/>
              </a:rPr>
              <a:t>52.65K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51760"/>
            <a:ext cx="356616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2907791"/>
            <a:ext cx="30540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D62728"/>
                </a:solidFill>
                <a:latin typeface="Aptos"/>
              </a:rPr>
              <a:t>01  CUSTOMER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3310128"/>
            <a:ext cx="305409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262626"/>
                </a:solidFill>
                <a:latin typeface="Aptos"/>
              </a:rPr>
              <a:t>Low-balance watchlist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3913631"/>
            <a:ext cx="305409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96969"/>
                </a:solidFill>
                <a:latin typeface="Aptos"/>
              </a:rPr>
              <a:t>10 records fall below the 5,000 balance threshold used in the dashboard.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4681728"/>
            <a:ext cx="3054096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864608"/>
            <a:ext cx="30540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868D6"/>
                </a:solidFill>
                <a:latin typeface="Aptos"/>
              </a:rPr>
              <a:t>Recommended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5120640"/>
            <a:ext cx="305409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262626"/>
                </a:solidFill>
                <a:latin typeface="Aptos"/>
              </a:rPr>
              <a:t>Prioritise these records for account-health and retention review.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9976" y="2651760"/>
            <a:ext cx="356616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8" y="2907791"/>
            <a:ext cx="30540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28B71"/>
                </a:solidFill>
                <a:latin typeface="Aptos"/>
              </a:rPr>
              <a:t>02  CUSTOMER ACTIVITY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3310128"/>
            <a:ext cx="305409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262626"/>
                </a:solidFill>
                <a:latin typeface="Aptos"/>
              </a:rPr>
              <a:t>Watch concentration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8" y="3913631"/>
            <a:ext cx="305409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96969"/>
                </a:solidFill>
                <a:latin typeface="Aptos"/>
              </a:rPr>
              <a:t>The Top 10 view isolates customers contributing the highest transaction activity.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36008" y="4681728"/>
            <a:ext cx="3054096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36008" y="4864608"/>
            <a:ext cx="30540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868D6"/>
                </a:solidFill>
                <a:latin typeface="Aptos"/>
              </a:rPr>
              <a:t>Dashboard 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8" y="5120640"/>
            <a:ext cx="305409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262626"/>
                </a:solidFill>
                <a:latin typeface="Aptos"/>
              </a:rPr>
              <a:t>Use customer ranking to focus relationship-management attention.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57032" y="2651760"/>
            <a:ext cx="3566160" cy="278892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13064" y="2907791"/>
            <a:ext cx="30540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ED7D31"/>
                </a:solidFill>
                <a:latin typeface="Aptos"/>
              </a:rPr>
              <a:t>03  DATA LIMITATION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3064" y="3310128"/>
            <a:ext cx="305409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262626"/>
                </a:solidFill>
                <a:latin typeface="Aptos"/>
              </a:rPr>
              <a:t>Transaction timing is not available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13064" y="3913631"/>
            <a:ext cx="305409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96969"/>
                </a:solidFill>
                <a:latin typeface="Aptos"/>
              </a:rPr>
              <a:t>The supplied Transaction_Date field contains dates only. There is no transaction-time field in the source.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3064" y="4681728"/>
            <a:ext cx="3054096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13064" y="4864608"/>
            <a:ext cx="30540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868D6"/>
                </a:solidFill>
                <a:latin typeface="Aptos"/>
              </a:rPr>
              <a:t>Reporting impact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13064" y="5120640"/>
            <a:ext cx="305409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262626"/>
                </a:solidFill>
                <a:latin typeface="Aptos"/>
              </a:rPr>
              <a:t>An Hour-of-Day heat map cannot be calculated reliably without inventing timestamps.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742432"/>
            <a:ext cx="111831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590702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1868D6"/>
                </a:solidFill>
                <a:latin typeface="Aptos"/>
              </a:rPr>
              <a:t>DASHBOARD CAPABILITIES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67712" y="5879592"/>
            <a:ext cx="9098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262626"/>
                </a:solidFill>
                <a:latin typeface="Aptos"/>
              </a:rPr>
              <a:t>Drill-through  •  Conditional formatting  •  Hierarchy  •  What-If analysis  •  Customer ranking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